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49092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099369"/>
            <a:ext cx="360052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Inter"/>
              </a:rPr>
              <a:t>MACHINE LEARNING CUANTIC &amp; NISQ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56544"/>
            <a:ext cx="860107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Space Grotesk"/>
              </a:rPr>
              <a:t>Detectarea Fraudelor Financiare cu VQC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9183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Optimizarea circuitelor cuantice variaționale sub canale de zgomot depolarizant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68130"/>
            <a:ext cx="5655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Studiu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Comparativ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: Baseline vs. </a:t>
            </a:r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Arhitectură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Frugală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pe 4 </a:t>
            </a:r>
            <a:r>
              <a:rPr sz="1200" b="0" i="0" u="none" dirty="0" err="1">
                <a:solidFill>
                  <a:srgbClr val="CBD5E1"/>
                </a:solidFill>
                <a:latin typeface="Inter"/>
              </a:rPr>
              <a:t>Qubiți</a:t>
            </a:r>
            <a:endParaRPr sz="12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35F45-4A2B-7880-54BB-21477413A344}"/>
              </a:ext>
            </a:extLst>
          </p:cNvPr>
          <p:cNvSpPr txBox="1"/>
          <p:nvPr/>
        </p:nvSpPr>
        <p:spPr>
          <a:xfrm>
            <a:off x="838200" y="5144392"/>
            <a:ext cx="2152512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i="0" u="none" dirty="0" err="1">
                <a:solidFill>
                  <a:srgbClr val="CBD5E1"/>
                </a:solidFill>
                <a:latin typeface="Inter"/>
              </a:rPr>
              <a:t>Nume</a:t>
            </a:r>
            <a:r>
              <a:rPr lang="en-US" sz="1200" b="0" i="0" u="none" dirty="0">
                <a:solidFill>
                  <a:srgbClr val="CBD5E1"/>
                </a:solidFill>
                <a:latin typeface="Inter"/>
              </a:rPr>
              <a:t>: Lala Maria Nicola Fernanda</a:t>
            </a:r>
          </a:p>
          <a:p>
            <a:pPr algn="l"/>
            <a:r>
              <a:rPr lang="en-US" sz="1200" dirty="0">
                <a:solidFill>
                  <a:srgbClr val="CBD5E1"/>
                </a:solidFill>
                <a:latin typeface="Inter"/>
              </a:rPr>
              <a:t>	Stanciu Raducu-Stefan</a:t>
            </a:r>
          </a:p>
          <a:p>
            <a:pPr algn="l"/>
            <a:r>
              <a:rPr lang="en-US" sz="1200" b="0" i="0" u="none">
                <a:solidFill>
                  <a:srgbClr val="CBD5E1"/>
                </a:solidFill>
                <a:latin typeface="Inter"/>
              </a:rPr>
              <a:t>	Patrascu Cosmin-Eusebiu</a:t>
            </a:r>
            <a:endParaRPr sz="12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1308"/>
            <a:ext cx="35052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91296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91296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405633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05621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05621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EXPLORARE &amp; PREPROCESARE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Setul de Date Credit Card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24733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Dezechilibru Extrem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48583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0.17% rată naturală de fraudă.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24721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Undersampling Stratificat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48571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Raport 50-50 aplicat strict pe antrenare.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24721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Compresie 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48571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4 componente principale mapate unghiular.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1746"/>
            <a:ext cx="6129337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81837" y="2429321"/>
            <a:ext cx="4500562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81837" y="3972371"/>
            <a:ext cx="4500562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ARHITECTURĂ CUANTICĂ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Modelul Baseline VQC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096071"/>
            <a:ext cx="721965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Topologie Cuantică Densă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15171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Feature Map: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2 repetiții ZZ cu entanglement all-to-all.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29496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Ansatz: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EfficientSU2 cu 3 repetiții parametrizate.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43821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Inter"/>
              </a:rPr>
              <a:t>Măsurătoare: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Readout scalar Pauli-Z pe un singur qubit.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58146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Inter"/>
              </a:rPr>
              <a:t>Vulnerabilitate:</a:t>
            </a:r>
            <a:r>
              <a:rPr sz="1350" b="0" i="0" u="none">
                <a:solidFill>
                  <a:srgbClr val="DC2626"/>
                </a:solidFill>
                <a:latin typeface="Inter"/>
              </a:rPr>
              <a:t> Sensibilitate critică la zgomot depolarizant.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6923" y="2667446"/>
            <a:ext cx="503039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Space Grotesk"/>
              </a:rP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6923" y="3353246"/>
            <a:ext cx="503039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Porți CNOT pe circuit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6923" y="4210496"/>
            <a:ext cx="503039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Space Grotesk"/>
              </a:rPr>
              <a:t>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6923" y="4896296"/>
            <a:ext cx="503039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Locații totale de zgomot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1746"/>
            <a:ext cx="6129337" cy="219075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81837" y="2429321"/>
            <a:ext cx="4500562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81837" y="3972371"/>
            <a:ext cx="4500562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4186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EFICIENȚĂ &amp; ROBUSTEȚE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2719847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 dirty="0" err="1">
                <a:solidFill>
                  <a:srgbClr val="0F172A"/>
                </a:solidFill>
                <a:latin typeface="Space Grotesk"/>
              </a:rPr>
              <a:t>Modelul</a:t>
            </a:r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Space Grotesk"/>
              </a:rPr>
              <a:t>Optimizat</a:t>
            </a:r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096071"/>
            <a:ext cx="721965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Arhitectură de Precizie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15171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Entanglement Liniar:</a:t>
            </a:r>
            <a:r>
              <a:rPr sz="1350" b="0" i="0" u="none">
                <a:solidFill>
                  <a:srgbClr val="1E3A8A"/>
                </a:solidFill>
                <a:latin typeface="Inter"/>
              </a:rPr>
              <a:t> Conexiuni exclusiv între vecini direcți.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29496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Adâncime Redusă:</a:t>
            </a:r>
            <a:r>
              <a:rPr sz="1350" b="0" i="0" u="none">
                <a:solidFill>
                  <a:srgbClr val="1E3A8A"/>
                </a:solidFill>
                <a:latin typeface="Inter"/>
              </a:rPr>
              <a:t> 1 repetiție pentru feature map și ansatz.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43821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Ponderi:</a:t>
            </a:r>
            <a:r>
              <a:rPr sz="1350" b="0" i="0" u="none">
                <a:solidFill>
                  <a:srgbClr val="1E3A8A"/>
                </a:solidFill>
                <a:latin typeface="Inter"/>
              </a:rPr>
              <a:t> 16 parametri antrenabili (scădere 50%).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58146"/>
            <a:ext cx="68758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Conservare Semnal:</a:t>
            </a:r>
            <a:r>
              <a:rPr sz="1350" b="0" i="0" u="none">
                <a:solidFill>
                  <a:srgbClr val="16A34A"/>
                </a:solidFill>
                <a:latin typeface="Inter"/>
              </a:rPr>
              <a:t> Reducere masivă a ratei de decoerență.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6923" y="2667446"/>
            <a:ext cx="503039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2563EB"/>
                </a:solidFill>
                <a:latin typeface="Space Grotes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6923" y="3353246"/>
            <a:ext cx="503039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Porți CNOT (reducere cu 72%)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6923" y="4210496"/>
            <a:ext cx="503039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2563EB"/>
                </a:solidFill>
                <a:latin typeface="Space Grotesk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6923" y="4896296"/>
            <a:ext cx="503039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Locații totale de zgomot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05758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3888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3888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38883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605783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PERFORMANȚĂ PE SETUL DE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 dirty="0" err="1">
                <a:solidFill>
                  <a:srgbClr val="0F172A"/>
                </a:solidFill>
                <a:latin typeface="Space Grotesk"/>
              </a:rPr>
              <a:t>Comparație</a:t>
            </a:r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 Sub </a:t>
            </a:r>
            <a:r>
              <a:rPr sz="2550" b="1" i="0" u="none" dirty="0" err="1">
                <a:solidFill>
                  <a:srgbClr val="0F172A"/>
                </a:solidFill>
                <a:latin typeface="Space Grotesk"/>
              </a:rPr>
              <a:t>Zgomot</a:t>
            </a:r>
            <a:r>
              <a:rPr sz="255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Space Grotesk"/>
              </a:rPr>
              <a:t>Depolarizant</a:t>
            </a:r>
            <a:endParaRPr sz="255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9675" y="4610546"/>
            <a:ext cx="673998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1E293B"/>
                </a:solidFill>
                <a:latin typeface="Inter"/>
              </a:rPr>
              <a:t>Concluzie</a:t>
            </a:r>
            <a:r>
              <a:rPr sz="1350" b="1" i="0" u="none" dirty="0">
                <a:solidFill>
                  <a:srgbClr val="1E293B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Reducerea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complexității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hardware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asigură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un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avantaj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direct de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rezistență</a:t>
            </a:r>
            <a:r>
              <a:rPr sz="1350" b="0" i="0" u="none" dirty="0">
                <a:solidFill>
                  <a:srgbClr val="1E293B"/>
                </a:solidFill>
                <a:latin typeface="Inter"/>
              </a:rPr>
              <a:t> la </a:t>
            </a:r>
            <a:r>
              <a:rPr sz="1350" b="0" i="0" u="none" dirty="0" err="1">
                <a:solidFill>
                  <a:srgbClr val="1E293B"/>
                </a:solidFill>
                <a:latin typeface="Inter"/>
              </a:rPr>
              <a:t>zgomot</a:t>
            </a:r>
            <a:r>
              <a:rPr lang="en-US" sz="1350" b="0" i="0" u="none" dirty="0">
                <a:solidFill>
                  <a:srgbClr val="1E293B"/>
                </a:solidFill>
                <a:latin typeface="Inter"/>
              </a:rPr>
              <a:t>.</a:t>
            </a:r>
            <a:endParaRPr sz="1350" b="0" i="0" u="none" dirty="0">
              <a:solidFill>
                <a:srgbClr val="1E293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725" y="2977008"/>
            <a:ext cx="3786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Logistic Regression (Clasic)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15133"/>
            <a:ext cx="378618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Space Grotesk"/>
              </a:rPr>
              <a:t>0.703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748533"/>
            <a:ext cx="3786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AUPRC stabil de referință.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2977008"/>
            <a:ext cx="13673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91B1B"/>
                </a:solidFill>
                <a:latin typeface="Inter"/>
              </a:rPr>
              <a:t>Baseline VQC (p = 0.0</a:t>
            </a:r>
            <a:r>
              <a:rPr lang="en-US" sz="1125" b="0" i="0" u="none" dirty="0">
                <a:solidFill>
                  <a:srgbClr val="991B1B"/>
                </a:solidFill>
                <a:latin typeface="Inter"/>
              </a:rPr>
              <a:t>1</a:t>
            </a:r>
            <a:r>
              <a:rPr sz="1125" b="0" i="0" u="none" dirty="0">
                <a:solidFill>
                  <a:srgbClr val="991B1B"/>
                </a:solidFill>
                <a:latin typeface="Inter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215133"/>
            <a:ext cx="2022990" cy="87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fontAlgn="base" latinLnBrk="1"/>
            <a:r>
              <a:rPr lang="en-US" sz="2850" dirty="0">
                <a:solidFill>
                  <a:srgbClr val="C00000"/>
                </a:solidFill>
              </a:rPr>
              <a:t>0.431 ± 0.044</a:t>
            </a:r>
          </a:p>
          <a:p>
            <a:pPr algn="l"/>
            <a:endParaRPr lang="en-US" sz="2850" b="1" i="0" u="none" dirty="0">
              <a:solidFill>
                <a:srgbClr val="B91C1C"/>
              </a:solidFill>
              <a:latin typeface="Space Grotesk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1525" y="3748533"/>
            <a:ext cx="3786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Inter"/>
              </a:rPr>
              <a:t>Degradare accentuată la zgomot.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2977008"/>
            <a:ext cx="148438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166534"/>
                </a:solidFill>
                <a:latin typeface="Inter"/>
              </a:rPr>
              <a:t>Optimized VQC (p = 0.0</a:t>
            </a:r>
            <a:r>
              <a:rPr lang="en-US" sz="1125" b="0" i="0" u="none" dirty="0">
                <a:solidFill>
                  <a:srgbClr val="166534"/>
                </a:solidFill>
                <a:latin typeface="Inter"/>
              </a:rPr>
              <a:t>1</a:t>
            </a:r>
            <a:r>
              <a:rPr sz="1125" b="0" i="0" u="none" dirty="0">
                <a:solidFill>
                  <a:srgbClr val="166534"/>
                </a:solidFill>
                <a:latin typeface="Inter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215133"/>
            <a:ext cx="2032608" cy="87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850" b="1" dirty="0">
                <a:solidFill>
                  <a:srgbClr val="00B050"/>
                </a:solidFill>
                <a:latin typeface="Space Grotesk"/>
              </a:rPr>
              <a:t>0.497 </a:t>
            </a:r>
            <a:r>
              <a:rPr lang="en-US" sz="2850" b="1" dirty="0">
                <a:solidFill>
                  <a:srgbClr val="00B050"/>
                </a:solidFill>
              </a:rPr>
              <a:t>± 0.029</a:t>
            </a:r>
          </a:p>
          <a:p>
            <a:pPr algn="l"/>
            <a:endParaRPr sz="2850" b="1" i="0" u="none" dirty="0">
              <a:solidFill>
                <a:srgbClr val="15803D"/>
              </a:solidFill>
              <a:latin typeface="Space Grotesk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15325" y="3748533"/>
            <a:ext cx="3786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4532D"/>
                </a:solidFill>
                <a:latin typeface="Inter"/>
              </a:rPr>
              <a:t>Robustețe superioară sub erori.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225B7-6F5F-FB79-754B-A7FB88BD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519082-AB41-00B7-A3CE-7986084F2CBB}"/>
              </a:ext>
            </a:extLst>
          </p:cNvPr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PERFORMANȚĂ PE SETUL DE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BD3A0-B3D9-E244-185E-FD16C3A65638}"/>
              </a:ext>
            </a:extLst>
          </p:cNvPr>
          <p:cNvSpPr txBox="1"/>
          <p:nvPr/>
        </p:nvSpPr>
        <p:spPr>
          <a:xfrm>
            <a:off x="609600" y="714375"/>
            <a:ext cx="1269002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1" i="0" u="none" dirty="0" err="1">
                <a:solidFill>
                  <a:srgbClr val="0F172A"/>
                </a:solidFill>
                <a:latin typeface="Space Grotesk"/>
              </a:rPr>
              <a:t>Rezultate</a:t>
            </a:r>
            <a:endParaRPr sz="2550" b="1" i="0" u="none" dirty="0">
              <a:solidFill>
                <a:srgbClr val="0F172A"/>
              </a:solidFill>
              <a:latin typeface="Space Grotesk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DEA031-0B4B-3F92-E758-5D55F7C19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6" y="1560658"/>
            <a:ext cx="5606734" cy="45829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F339536-4132-64DE-8FAB-9D4E61486F46}"/>
              </a:ext>
            </a:extLst>
          </p:cNvPr>
          <p:cNvSpPr txBox="1"/>
          <p:nvPr/>
        </p:nvSpPr>
        <p:spPr>
          <a:xfrm>
            <a:off x="2453640" y="1093511"/>
            <a:ext cx="1364284" cy="3263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1400" b="1" i="0" u="none" dirty="0">
                <a:solidFill>
                  <a:srgbClr val="0F172A"/>
                </a:solidFill>
                <a:latin typeface="Space Grotesk"/>
              </a:rPr>
              <a:t>Model </a:t>
            </a:r>
            <a:r>
              <a:rPr lang="en-US" sz="1400" b="1" i="0" u="none" dirty="0" err="1">
                <a:solidFill>
                  <a:srgbClr val="0F172A"/>
                </a:solidFill>
                <a:latin typeface="Space Grotesk"/>
              </a:rPr>
              <a:t>optimizat</a:t>
            </a:r>
            <a:r>
              <a:rPr lang="en-US" sz="1400" b="1" i="0" u="none" dirty="0">
                <a:solidFill>
                  <a:srgbClr val="0F172A"/>
                </a:solidFill>
                <a:latin typeface="Space Grotesk"/>
              </a:rPr>
              <a:t> 1</a:t>
            </a:r>
            <a:endParaRPr sz="1400" b="1" i="0" u="none" dirty="0">
              <a:solidFill>
                <a:srgbClr val="0F172A"/>
              </a:solidFill>
              <a:latin typeface="Space Grotesk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C2C36A-C518-6AAE-C02A-56B78567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21163"/>
            <a:ext cx="5800344" cy="47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6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4A60E-E6B4-DF70-B405-5FA164AB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41B6D5-7DAE-2C93-051A-7736B364C29C}"/>
              </a:ext>
            </a:extLst>
          </p:cNvPr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PERFORMANȚĂ PE SETUL DE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73D33-409F-16B9-45E2-4DFEE1516AF9}"/>
              </a:ext>
            </a:extLst>
          </p:cNvPr>
          <p:cNvSpPr txBox="1"/>
          <p:nvPr/>
        </p:nvSpPr>
        <p:spPr>
          <a:xfrm>
            <a:off x="609600" y="714375"/>
            <a:ext cx="1269002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1" i="0" u="none" dirty="0" err="1">
                <a:solidFill>
                  <a:srgbClr val="0F172A"/>
                </a:solidFill>
                <a:latin typeface="Space Grotesk"/>
              </a:rPr>
              <a:t>Rezultate</a:t>
            </a:r>
            <a:endParaRPr sz="2550" b="1" i="0" u="none" dirty="0">
              <a:solidFill>
                <a:srgbClr val="0F172A"/>
              </a:solidFill>
              <a:latin typeface="Space Grotes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414B6-CF28-D393-917B-51B44186F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884994"/>
            <a:ext cx="11201400" cy="385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3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91DF6-4BF3-EB12-DE11-3A1B1F0B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13A8F8-B596-C984-4313-BB2A783FF0C4}"/>
              </a:ext>
            </a:extLst>
          </p:cNvPr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PERFORMANȚĂ PE SETUL DE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B603-646C-1975-FE60-B2FB3DD5553A}"/>
              </a:ext>
            </a:extLst>
          </p:cNvPr>
          <p:cNvSpPr txBox="1"/>
          <p:nvPr/>
        </p:nvSpPr>
        <p:spPr>
          <a:xfrm>
            <a:off x="609600" y="714375"/>
            <a:ext cx="1269002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1" i="0" u="none" dirty="0" err="1">
                <a:solidFill>
                  <a:srgbClr val="0F172A"/>
                </a:solidFill>
                <a:latin typeface="Space Grotesk"/>
              </a:rPr>
              <a:t>Rezultate</a:t>
            </a:r>
            <a:endParaRPr sz="2550" b="1" i="0" u="none" dirty="0">
              <a:solidFill>
                <a:srgbClr val="0F172A"/>
              </a:solidFill>
              <a:latin typeface="Space Grotes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03C70-CCDE-D56C-4692-BF607D95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599084"/>
            <a:ext cx="7459116" cy="50680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21F1EF-35F8-7B6A-1458-8A2BE16EEC80}"/>
              </a:ext>
            </a:extLst>
          </p:cNvPr>
          <p:cNvSpPr txBox="1"/>
          <p:nvPr/>
        </p:nvSpPr>
        <p:spPr>
          <a:xfrm>
            <a:off x="4514088" y="1086272"/>
            <a:ext cx="3773424" cy="33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1600" b="1" i="0" u="none" dirty="0">
                <a:solidFill>
                  <a:srgbClr val="0F172A"/>
                </a:solidFill>
                <a:latin typeface="Space Grotesk"/>
              </a:rPr>
              <a:t>Model </a:t>
            </a:r>
            <a:r>
              <a:rPr lang="en-US" sz="1600" b="1" i="0" u="none" dirty="0" err="1">
                <a:solidFill>
                  <a:srgbClr val="0F172A"/>
                </a:solidFill>
                <a:latin typeface="Space Grotesk"/>
              </a:rPr>
              <a:t>sintetizat</a:t>
            </a:r>
            <a:r>
              <a:rPr lang="en-US" sz="1600" b="1" i="0" u="none" dirty="0">
                <a:solidFill>
                  <a:srgbClr val="0F172A"/>
                </a:solidFill>
                <a:latin typeface="Space Grotesk"/>
              </a:rPr>
              <a:t> + </a:t>
            </a:r>
            <a:r>
              <a:rPr lang="en-US" sz="1600" b="1" i="0" u="none" dirty="0" err="1">
                <a:solidFill>
                  <a:srgbClr val="0F172A"/>
                </a:solidFill>
                <a:latin typeface="Space Grotesk"/>
              </a:rPr>
              <a:t>mediere</a:t>
            </a:r>
            <a:r>
              <a:rPr lang="en-US" sz="1600" b="1" i="0" u="none" dirty="0">
                <a:solidFill>
                  <a:srgbClr val="0F172A"/>
                </a:solidFill>
                <a:latin typeface="Space Grotesk"/>
              </a:rPr>
              <a:t> pe </a:t>
            </a:r>
            <a:r>
              <a:rPr lang="en-US" sz="1600" b="1" i="0" u="none" dirty="0" err="1">
                <a:solidFill>
                  <a:srgbClr val="0F172A"/>
                </a:solidFill>
                <a:latin typeface="Space Grotesk"/>
              </a:rPr>
              <a:t>qubiti</a:t>
            </a:r>
            <a:endParaRPr sz="1600" b="1" i="0" u="none" dirty="0">
              <a:solidFill>
                <a:srgbClr val="0F172A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558647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9300" y="4357687"/>
            <a:ext cx="5334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43294" y="2471737"/>
            <a:ext cx="37052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0A5FA"/>
                </a:solidFill>
                <a:latin typeface="Inter"/>
              </a:rPr>
              <a:t>SESIUNE DE ÎNTREBĂRI &amp; RĂSPUNSURI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5393" y="2728912"/>
            <a:ext cx="9701212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Vă mulțumim pentru atenție!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3595687"/>
            <a:ext cx="7381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Detectarea fraudelor bancare prin circuite cuantice variaționale frugale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303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Space Grotesk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Răducu-Ștefan STANCIU (126851)</cp:lastModifiedBy>
  <cp:revision>4</cp:revision>
  <dcterms:created xsi:type="dcterms:W3CDTF">2013-01-27T09:14:16Z</dcterms:created>
  <dcterms:modified xsi:type="dcterms:W3CDTF">2026-10-25T06:44:51Z</dcterms:modified>
  <cp:category/>
</cp:coreProperties>
</file>